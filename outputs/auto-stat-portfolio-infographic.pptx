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942390c44f4084" /><Relationship Type="http://schemas.openxmlformats.org/officeDocument/2006/relationships/extended-properties" Target="/docProps/app.xml" Id="Ra4d4c916261b48be" /><Relationship Type="http://schemas.openxmlformats.org/officeDocument/2006/relationships/officeDocument" Target="/ppt/presentation.xml" Id="R888797a906ee4f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c159bd336445db"/>
  </p:sldMasterIdLst>
  <p:notesMasterIdLst>
    <p:notesMasterId xmlns:r="http://schemas.openxmlformats.org/officeDocument/2006/relationships" r:id="Rdc728c28f66b414f"/>
  </p:notesMasterIdLst>
  <p:sldIdLst>
    <p:sldId xmlns:r="http://schemas.openxmlformats.org/officeDocument/2006/relationships" id="256" r:id="R6ba91fd619454ef6"/>
    <p:sldId xmlns:r="http://schemas.openxmlformats.org/officeDocument/2006/relationships" id="257" r:id="R92c7bb1a998f47d4"/>
    <p:sldId xmlns:r="http://schemas.openxmlformats.org/officeDocument/2006/relationships" id="258" r:id="Rb7e8ff9ac89d414b"/>
    <p:sldId xmlns:r="http://schemas.openxmlformats.org/officeDocument/2006/relationships" id="259" r:id="R16a979abab95466d"/>
    <p:sldId xmlns:r="http://schemas.openxmlformats.org/officeDocument/2006/relationships" id="260" r:id="Rcb86e18469a2406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039c028b4645f3" /><Relationship Type="http://schemas.openxmlformats.org/officeDocument/2006/relationships/slideMaster" Target="/ppt/slideMasters/slideMaster1.xml" Id="R51c159bd336445db" /><Relationship Type="http://schemas.openxmlformats.org/officeDocument/2006/relationships/notesMaster" Target="/ppt/notesMasters/notesMaster1.xml" Id="Rdc728c28f66b414f" /><Relationship Type="http://schemas.openxmlformats.org/officeDocument/2006/relationships/presProps" Target="/ppt/presProps.xml" Id="R8349fe40958d41fc" /><Relationship Type="http://schemas.openxmlformats.org/officeDocument/2006/relationships/tableStyles" Target="/ppt/tableStyles.xml" Id="Rea01c5bade4340a3" /><Relationship Type="http://schemas.openxmlformats.org/officeDocument/2006/relationships/slide" Target="/ppt/slides/slide1.xml" Id="R6ba91fd619454ef6" /><Relationship Type="http://schemas.openxmlformats.org/officeDocument/2006/relationships/slide" Target="/ppt/slides/slide2.xml" Id="R92c7bb1a998f47d4" /><Relationship Type="http://schemas.openxmlformats.org/officeDocument/2006/relationships/slide" Target="/ppt/slides/slide3.xml" Id="Rb7e8ff9ac89d414b" /><Relationship Type="http://schemas.openxmlformats.org/officeDocument/2006/relationships/slide" Target="/ppt/slides/slide4.xml" Id="R16a979abab95466d" /><Relationship Type="http://schemas.openxmlformats.org/officeDocument/2006/relationships/slide" Target="/ppt/slides/slide5.xml" Id="Rcb86e18469a240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f8afc91db746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2d705dfa5a4043" /><Relationship Type="http://schemas.openxmlformats.org/officeDocument/2006/relationships/notesMaster" Target="/ppt/notesMasters/notesMaster1.xml" Id="Red7a8df59ae44d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2e1210dbc44400" /><Relationship Type="http://schemas.openxmlformats.org/officeDocument/2006/relationships/notesMaster" Target="/ppt/notesMasters/notesMaster1.xml" Id="R6b54be4e5c6949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cd48c3cade4a7e" /><Relationship Type="http://schemas.openxmlformats.org/officeDocument/2006/relationships/notesMaster" Target="/ppt/notesMasters/notesMaster1.xml" Id="Raf51fac50d9d45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bede66d4d943df" /><Relationship Type="http://schemas.openxmlformats.org/officeDocument/2006/relationships/notesMaster" Target="/ppt/notesMasters/notesMaster1.xml" Id="R71841eee01484c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4f6da2c7fd4380" /><Relationship Type="http://schemas.openxmlformats.org/officeDocument/2006/relationships/notesMaster" Target="/ppt/notesMasters/notesMaster1.xml" Id="Rc0e4eb3a94364f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fedbe5bd5e47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06f03102774165" /><Relationship Type="http://schemas.openxmlformats.org/officeDocument/2006/relationships/slideLayout" Target="/ppt/slideLayouts/slideLayout1.xml" Id="R15e4a7783fcb46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e4a7783fcb46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c7f52494546f9" /><Relationship Type="http://schemas.openxmlformats.org/officeDocument/2006/relationships/image" Target="/ppt/media/image.png" Id="R02e7257e5ebc4da9" /><Relationship Type="http://schemas.openxmlformats.org/officeDocument/2006/relationships/notesSlide" Target="/ppt/notesSlides/notesSlide1.xml" Id="R8d45b22b68d940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b9953de234d98" /><Relationship Type="http://schemas.openxmlformats.org/officeDocument/2006/relationships/image" Target="/ppt/media/image2.png" Id="Rcc2f72da46e44f66" /><Relationship Type="http://schemas.openxmlformats.org/officeDocument/2006/relationships/notesSlide" Target="/ppt/notesSlides/notesSlide2.xml" Id="Rb48139ae7a6845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8ef70b1a544a8" /><Relationship Type="http://schemas.openxmlformats.org/officeDocument/2006/relationships/image" Target="/ppt/media/image3.png" Id="R898863f9e6f8480f" /><Relationship Type="http://schemas.openxmlformats.org/officeDocument/2006/relationships/notesSlide" Target="/ppt/notesSlides/notesSlide3.xml" Id="Rf3fbf83d3f4746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e06c441684fa8" /><Relationship Type="http://schemas.openxmlformats.org/officeDocument/2006/relationships/image" Target="/ppt/media/image4.png" Id="R0ffea3de9d9446cd" /><Relationship Type="http://schemas.openxmlformats.org/officeDocument/2006/relationships/notesSlide" Target="/ppt/notesSlides/notesSlide4.xml" Id="Rffd06911506242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5a8d63a594136" /><Relationship Type="http://schemas.openxmlformats.org/officeDocument/2006/relationships/image" Target="/ppt/media/image5.png" Id="Re4c1af36c09b46ec" /><Relationship Type="http://schemas.openxmlformats.org/officeDocument/2006/relationships/notesSlide" Target="/ppt/notesSlides/notesSlide5.xml" Id="Rf33aa8ec167542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9D5CBD-396E-488E-A113-717FCFA9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통계 기법 추천 시스템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277E4-F7A4-4845-8019-37388570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43A40"/>
                </a:solidFill>
              </a:defRPr>
            </a:pPr>
            <a:r>
              <a:rPr sz="1800" b="0">
                <a:solidFill>
                  <a:srgbClr val="343A40"/>
                </a:solidFill>
              </a:rPr>
              <a:t>재활 연구 초보자가 설계에 맞는 분석법을 고르고, 바로 실행 가능한 R 분석 흐름까지 이어가도록 만든 웹 도구입니다.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6572C-9ABA-400F-8964-82B43E09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9651A-54A4-4865-9F0F-76714B5D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766E"/>
                </a:solidFill>
              </a:defRPr>
            </a:pPr>
            <a:r>
              <a:rPr sz="3150" b="1">
                <a:solidFill>
                  <a:srgbClr val="0F766E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F76C5-82C8-455A-8B52-D40A4939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76F"/>
                </a:solidFill>
              </a:defRPr>
            </a:pPr>
            <a:r>
              <a:rPr sz="1200" b="0">
                <a:solidFill>
                  <a:srgbClr val="62676F"/>
                </a:solidFill>
              </a:rPr>
              <a:t>통계 기법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365FE-3BDD-4475-936D-9B49C736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9115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B45309"/>
                </a:solidFill>
              </a:defRPr>
            </a:pPr>
            <a:r>
              <a:rPr sz="3150" b="1">
                <a:solidFill>
                  <a:srgbClr val="B45309"/>
                </a:solidFill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23DFC-D67F-437C-9C7D-310EDAAC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67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76F"/>
                </a:solidFill>
              </a:defRPr>
            </a:pPr>
            <a:r>
              <a:rPr sz="1200" b="0">
                <a:solidFill>
                  <a:srgbClr val="62676F"/>
                </a:solidFill>
              </a:rPr>
              <a:t>질문 단계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36AE5-D19A-4929-848E-E1E1A816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9115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EB"/>
                </a:solidFill>
              </a:defRPr>
            </a:pPr>
            <a:r>
              <a:rPr sz="3150" b="1">
                <a:solidFill>
                  <a:srgbClr val="2563EB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7A63B-96B9-4314-BCD8-2C039B31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67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76F"/>
                </a:solidFill>
              </a:defRPr>
            </a:pPr>
            <a:r>
              <a:rPr sz="1200" b="0">
                <a:solidFill>
                  <a:srgbClr val="62676F"/>
                </a:solidFill>
              </a:rPr>
              <a:t>서버 필요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E5409-55E8-4421-8D12-25898D25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81050"/>
            <a:ext cx="4762500" cy="390525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7257e5ebc4da9"/>
          <a:stretch xmlns:a="http://schemas.openxmlformats.org/drawingml/2006/main"/>
        </p:blipFill>
        <p:spPr>
          <a:xfrm xmlns:a="http://schemas.openxmlformats.org/drawingml/2006/main">
            <a:off x="6743700" y="1125743"/>
            <a:ext cx="4229100" cy="2587214"/>
          </a:xfrm>
          <a:prstGeom xmlns:a="http://schemas.openxmlformats.org/drawingml/2006/main" prst="roundRect">
            <a:avLst>
              <a:gd name="adj" fmla="val 3676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20AA8-C0C9-4AE5-9DCA-04917F29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62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76F"/>
                </a:solidFill>
              </a:defRPr>
            </a:pPr>
            <a:r>
              <a:rPr sz="1350" b="1">
                <a:solidFill>
                  <a:srgbClr val="62676F"/>
                </a:solidFill>
              </a:rPr>
              <a:t>실제 배포 화면 기반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A2FD3-6925-4782-9747-CE5B00CA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481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76F"/>
                </a:solidFill>
              </a:defRPr>
            </a:pPr>
            <a:r>
              <a:rPr sz="1350" b="0">
                <a:solidFill>
                  <a:srgbClr val="62676F"/>
                </a:solidFill>
              </a:rPr>
              <a:t>질문 흐름과 목록 탐색을 모두 지원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1A240-702D-425B-ADA3-3556D427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suah7475.github.io/2.0_auto_statistical_method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F625F-68F6-4CAE-9D4E-5E8E8DBC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052081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4BED66-E923-4BFC-95D7-2B210678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질문에 답하면 추천 로직이 완성됩니다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AE88B-6F35-458D-AC54-16E855C3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76F"/>
                </a:solidFill>
              </a:defRPr>
            </a:pPr>
            <a:r>
              <a:rPr sz="1650" b="0">
                <a:solidFill>
                  <a:srgbClr val="62676F"/>
                </a:solidFill>
              </a:rPr>
              <a:t>사용자는 쉬운 질문을 보고, 시스템은 연구 설계 조건을 차례로 좁힙니다.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f72da46e44f66"/>
          <a:stretch xmlns:a="http://schemas.openxmlformats.org/drawingml/2006/main"/>
        </p:blipFill>
        <p:spPr>
          <a:xfrm xmlns:a="http://schemas.openxmlformats.org/drawingml/2006/main">
            <a:off x="1223194" y="1924050"/>
            <a:ext cx="4030612" cy="3562350"/>
          </a:xfrm>
          <a:prstGeom xmlns:a="http://schemas.openxmlformats.org/drawingml/2006/main" prst="roundRect">
            <a:avLst>
              <a:gd name="adj" fmla="val 2674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D2293-1E2C-4C93-8C7D-801006FE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955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F460A-0746-4B26-844A-CBC6309B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33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결과 변수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DB39A-6CDF-4660-9DBC-FCE5F251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337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45309"/>
                </a:solidFill>
              </a:defRPr>
            </a:pPr>
            <a:r>
              <a:rPr sz="2550" b="1">
                <a:solidFill>
                  <a:srgbClr val="B45309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019D6-0A8B-4D62-BD72-C838C16F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71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비교 변수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45A3CA-F06F-4B76-ABFC-6BBCAD75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719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6FA99-AD2F-4167-9472-D020D904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10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그룹 조건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CB740-AF13-427E-98A7-D98DE997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A0EC5-400C-47E6-A435-6093B150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48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정규성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8A670-5E6E-44E9-BC29-FC428F6D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578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3437"/>
                </a:solidFill>
              </a:defRPr>
            </a:pPr>
            <a:r>
              <a:rPr sz="1650" b="0">
                <a:solidFill>
                  <a:srgbClr val="2F3437"/>
                </a:solidFill>
              </a:rPr>
              <a:t>복잡한 통계 용어를 먼저 묻지 않고, 연구자가 이미 아는 설계 정보에서 출발합니다.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4B9D1-64C3-4C97-A2B0-47FE4DF0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suah7475.github.io/2.0_auto_statistical_method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EA1C3-F98A-441B-9D98-599CD335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098843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D82511-D79E-4B31-8E1A-2144FA34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추천 결과는 이해 가능한 설명으로 이어집니다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69F8D-0C4A-43A6-A1D2-95D26FFC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76F"/>
                </a:solidFill>
              </a:defRPr>
            </a:pPr>
            <a:r>
              <a:rPr sz="1650" b="0">
                <a:solidFill>
                  <a:srgbClr val="62676F"/>
                </a:solidFill>
              </a:rPr>
              <a:t>검정 이름만 보여주지 않고, 쉬운 설명과 재활 예시를 함께 제공합니다.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863f9e6f8480f"/>
          <a:stretch xmlns:a="http://schemas.openxmlformats.org/drawingml/2006/main"/>
        </p:blipFill>
        <p:spPr>
          <a:xfrm xmlns:a="http://schemas.openxmlformats.org/drawingml/2006/main">
            <a:off x="762000" y="1869421"/>
            <a:ext cx="4762500" cy="3824007"/>
          </a:xfrm>
          <a:prstGeom xmlns:a="http://schemas.openxmlformats.org/drawingml/2006/main" prst="roundRect">
            <a:avLst>
              <a:gd name="adj" fmla="val 248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8F84B-1079-4704-A5BB-5E3BE5EC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3714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2F807-EE50-4D81-B2C0-BFB11948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쉬운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05F40-D04A-4A9F-9B56-4E4809A8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3714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94764-F82F-4AE1-84BC-150E0543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45309"/>
                </a:solidFill>
              </a:defRPr>
            </a:pPr>
            <a:r>
              <a:rPr sz="1950" b="1">
                <a:solidFill>
                  <a:srgbClr val="B45309"/>
                </a:solidFill>
              </a:rPr>
              <a:t>재활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FFFB5-308A-4E2B-B0AF-4EF68C3B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0050"/>
            <a:ext cx="3714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BC4D3-74FC-452C-B871-4B8D25D2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00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대안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8E5C3-DFB7-431D-97B7-AAF9E323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483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초보자에게 필요한 것은 정답보다 판단 근거입니다.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698C05-988E-42C9-9CE7-E5C222B8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suah7475.github.io/2.0_auto_statistical_method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8B7068-FFE7-4693-B8B5-71DDD83A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55037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D67EDE-4C91-403B-A8D0-394289C8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분석 준비 화면까지 연결됩니다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3F33D-7396-452F-AA82-45E55A8E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76F"/>
                </a:solidFill>
              </a:defRPr>
            </a:pPr>
            <a:r>
              <a:rPr sz="1650" b="0">
                <a:solidFill>
                  <a:srgbClr val="62676F"/>
                </a:solidFill>
              </a:rPr>
              <a:t>엑셀 컬럼을 입력하면 타입 확인과 변수 매핑 단계로 넘어갑니다.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ea3de9d9446cd"/>
          <a:srcRect xmlns:a="http://schemas.openxmlformats.org/drawingml/2006/main" l="0" t="16819" r="0" b="168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1847850"/>
            <a:ext cx="4476750" cy="3752850"/>
          </a:xfrm>
          <a:prstGeom xmlns:a="http://schemas.openxmlformats.org/drawingml/2006/main" prst="roundRect">
            <a:avLst>
              <a:gd name="adj" fmla="val 253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3FDB5-091B-4E3B-BC14-B62BBC23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EE511-AD02-45C7-BE9C-30AE4EB0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050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컬럼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E5D21-ED3B-4E04-A6B2-E5C410FC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956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45309"/>
                </a:solidFill>
              </a:defRPr>
            </a:pPr>
            <a:r>
              <a:rPr sz="1950" b="1">
                <a:solidFill>
                  <a:srgbClr val="B4530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258E9-0931-40A5-833B-F224EDA6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05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타입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C981D-2244-48F7-8AFB-183BB6D2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2C958-67A6-4D2B-8112-40E646DD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052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변수 매핑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3EBF33-A800-420B-8115-5A7D6BB0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95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E490B-EC03-457E-95B3-7CB61D6A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053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R 코드 또는 WebR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3D778-5CEB-4359-B17A-883A78B9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816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3437"/>
                </a:solidFill>
              </a:defRPr>
            </a:pPr>
            <a:r>
              <a:rPr sz="1650" b="0">
                <a:solidFill>
                  <a:srgbClr val="2F3437"/>
                </a:solidFill>
              </a:rPr>
              <a:t>추천에서 끝나지 않고 실제 분석으로 이어지는 점이 포트폴리오의 핵심입니다.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58D05-1B9D-49D5-B558-DB536608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suah7475.github.io/2.0_auto_statistical_method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C0DBC-08D5-4FA1-A360-0C83DC9E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203100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9DFBC5-E7BA-41DB-94D8-6A08095B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5905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교육용 UX와 분석 자동화를 함께 설계했습니다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4657D-FFAE-4CE2-A516-E54F9AD3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C01E5-236C-4ED0-BA70-4CE111BC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도메인 특화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019B9-8B77-4085-9B6E-5A3CAC7C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813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BE0"/>
                </a:solidFill>
              </a:defRPr>
            </a:pPr>
            <a:r>
              <a:rPr sz="1650" b="0">
                <a:solidFill>
                  <a:srgbClr val="D7DBE0"/>
                </a:solidFill>
              </a:rPr>
              <a:t>재활 연구 사례 중심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261C4-E4E3-423E-99DF-02C05647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45309"/>
                </a:solidFill>
              </a:defRPr>
            </a:pPr>
            <a:r>
              <a:rPr sz="1950" b="1">
                <a:solidFill>
                  <a:srgbClr val="B45309"/>
                </a:solidFill>
              </a:rPr>
              <a:t>실행 가능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E50282-5968-4253-AA83-F2F32358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004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BE0"/>
                </a:solidFill>
              </a:defRPr>
            </a:pPr>
            <a:r>
              <a:rPr sz="1650" b="0">
                <a:solidFill>
                  <a:srgbClr val="D7DBE0"/>
                </a:solidFill>
              </a:rPr>
              <a:t>정적 사이트로 배포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DC256-0EB2-4B6D-83C7-76860C55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확장 구조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B3FE0-1D13-4E56-B984-60CB4A01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196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BE0"/>
                </a:solidFill>
              </a:defRPr>
            </a:pPr>
            <a:r>
              <a:rPr sz="1650" b="0">
                <a:solidFill>
                  <a:srgbClr val="D7DBE0"/>
                </a:solidFill>
              </a:rPr>
              <a:t>데이터와 추천 엔진 분리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1af36c09b46ec"/>
          <a:srcRect xmlns:a="http://schemas.openxmlformats.org/drawingml/2006/main" l="0" t="31079" r="0" b="310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857250"/>
            <a:ext cx="3429000" cy="445770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3E3DC-ED27-4170-BE8A-F6E94FFF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816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DBE0"/>
                </a:solidFill>
              </a:defRPr>
            </a:pPr>
            <a:r>
              <a:rPr sz="1500" b="0">
                <a:solidFill>
                  <a:srgbClr val="D7DBE0"/>
                </a:solidFill>
              </a:rPr>
              <a:t>26개 통계 기법을 직접 탐색할 수도 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5F1AC6-C7EE-4B62-9A1D-2CC804B8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4BC"/>
                </a:solidFill>
              </a:defRPr>
            </a:pPr>
            <a:r>
              <a:rPr sz="900" b="0">
                <a:solidFill>
                  <a:srgbClr val="AEB4BC"/>
                </a:solidFill>
              </a:rPr>
              <a:t>suah7475.github.io/2.0_auto_statistical_method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5228E-7BB8-43BF-86B0-95596183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4BC"/>
                </a:solidFill>
              </a:defRPr>
            </a:pPr>
            <a:r>
              <a:rPr sz="900" b="0">
                <a:solidFill>
                  <a:srgbClr val="AEB4B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481621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2026-07-10T04:53:35.6520000Z</dcterms:created>
  <dcterms:modified xsi:type="dcterms:W3CDTF">2026-07-10T04:53:35.6520000Z</dcterms:modified>
</coreProperties>
</file>